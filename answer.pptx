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www.bounteous.com/insights/2023/08/03/assembling-ultimate-innovation-lab-team-essential-roles-and-strategies-success/#:~:text=be%20strategic%20on%20how%20to,Innovators%2C%20and%20a%20Steering%20Committee" TargetMode="External"/><Relationship Id="rId2" Type="http://schemas.openxmlformats.org/officeDocument/2006/relationships/hyperlink" Target="https://jocatorres.medium.com/structuring-effective-product-development-teams-40dae9c8550e#:~:text=The%20minimum%20product%20development%20team,fed%20by%20two%20large%20pizza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dotcompliance.com/blog/eqms/biotechnology-qms-quality-management-system/#:~:text=Roles%20and%20Responsibilities%20in%20the,Biotech%20QM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hyperlink" Target="https://www.bounteous.com/insights/2023/08/03/assembling-ultimate-innovation-lab-team-essential-roles-and-strategies-success/#:~:text=be%20strategic%20on%20how%20to,Innovators%2C%20and%20a%20Steering%20Committee" TargetMode="External"/><Relationship Id="rId3" Type="http://schemas.openxmlformats.org/officeDocument/2006/relationships/hyperlink" Target="https://jocatorres.medium.com/structuring-effective-product-development-teams-40dae9c8550e#:~:text=The%20minimum%20product%20development%20team,fed%20by%20two%20large%20pizza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hyperlink" Target="https://www.dotcompliance.com/blog/eqms/biotechnology-qms-quality-management-system/#:~:text=Roles%20and%20Responsibilities%20in%20the,Biotech%20QMS" TargetMode="External"/><Relationship Id="rId3" Type="http://schemas.openxmlformats.org/officeDocument/2006/relationships/hyperlink" Target="https://martinholguin.com/biotech-product-core-teams-driving-innovation-and-collaboration/#:~:text=Biotech%20product%20core%20teams%20are,market%20support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www.bounteous.com/insights/2023/08/03/assembling-ultimate-innovation-lab-team-essential-roles-and-strategies-success/#:~:text=be%20strategic%20on%20how%20to,Innovators%2C%20and%20a%20Steering%20Committee" TargetMode="External"/><Relationship Id="rId2" Type="http://schemas.openxmlformats.org/officeDocument/2006/relationships/hyperlink" Target="https://jocatorres.medium.com/structuring-effective-product-development-teams-40dae9c8550e#:~:text=The%20minimum%20product%20development%20team,fed%20by%20two%20large%20pizzas" TargetMode="External"/><Relationship Id="rId3" Type="http://schemas.openxmlformats.org/officeDocument/2006/relationships/hyperlink" Target="https://www.dotcompliance.com/blog/eqms/biotechnology-qms-quality-management-system/#:~:text=Roles%20and%20Responsibilities%20in%20the,Biotech%20QM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dotcompliance.com/blog/eqms/biotechnology-qms-quality-management-system/#:~:text=Roles%20and%20Responsibilities%20in%20the,Biotech%20QMS" TargetMode="External"/><Relationship Id="rId2" Type="http://schemas.openxmlformats.org/officeDocument/2006/relationships/hyperlink" Target="https://martinholguin.com/biotech-product-core-teams-driving-innovation-and-collaboration/#:~:text=Biotech%20product%20core%20teams%20are,market%20support" TargetMode="External"/><Relationship Id="rId3" Type="http://schemas.openxmlformats.org/officeDocument/2006/relationships/hyperlink" Target="https://www.qmarkets.net/resources/article/innovation-labs/#:~:text=structured%2C%20repeatable%20processes,includ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Biotech Innovation Space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4495E"/>
                </a:solidFill>
              </a:rPr>
              <a:t>Staffing &amp; Operations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573"/>
                </a:solidFill>
              </a:rPr>
              <a:t>Exploratory Funnel and Operationalization Playbook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39192"/>
                </a:solidFill>
              </a:rPr>
              <a:t>January 29, 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1. Context &amp; objectives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2. Exploratory funnel: roles &amp; staffing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3. Operationalization/playbook team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4. Interplay &amp; process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5. Recommendations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1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84048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457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</a:rPr>
              <a:t>Exploratory Funnel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0" y="10972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Purpose:
</a:t>
            </a:r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scan emerging technologies, experiment with MVPs and generate knowledge artifacts
</a:t>
            </a:r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Team size (≈12–15 FTEs)
</a:t>
            </a:r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small agile squads (≤7 people) to build MVPs, with rotating domain experts
</a:t>
            </a:r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Key roles
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468880"/>
          <a:ext cx="4114800" cy="201168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</a:tblGrid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7FA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Innovation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Tech scouts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Data scientists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Software engineers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3–4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UX researcher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Domain experts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2 (rotational)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Security/Compliance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2"/>
              </a:rPr>
              <a:t>[1]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3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84048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457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</a:rPr>
              <a:t>Operationalization / Playbook Team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0" y="10972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Purpose:
</a:t>
            </a:r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translate validated concepts into scalable processes, SOPs and quality artifacts
</a:t>
            </a:r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Team size (≈8–10 FTEs)
</a:t>
            </a:r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ensure compliance with QMS and regulatory requirements
</a:t>
            </a:r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• Key roles
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468880"/>
          <a:ext cx="4114800" cy="201168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7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Program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QA specialists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Process engineers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Regulatory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QC/testing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Training/change mgmt.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IT 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Supply chain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Finance/marketing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95E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2"/>
              </a:rPr>
              <a:t>[3]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3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</a:rPr>
              <a:t>Interplay &amp; Process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188720"/>
            <a:ext cx="246888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Exploratory
</a:t>
            </a:r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Scan trends, build MVPs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Capture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0" y="1188720"/>
            <a:ext cx="246888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Operationalization
</a:t>
            </a:r>
            <a:pPr algn="ctr" indent="0" marL="0">
              <a:buNone/>
            </a:pPr>
            <a:r>
              <a:rPr lang="en-US" sz="1000" dirty="0">
                <a:solidFill>
                  <a:srgbClr val="E8F8F5"/>
                </a:solidFill>
              </a:rPr>
              <a:t>Develop playbook &amp; SOPs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8F5"/>
                </a:solidFill>
              </a:rPr>
              <a:t>Ensure compliance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286000" cy="274320"/>
          </a:xfrm>
          <a:prstGeom prst="rightArrow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Identify &amp; prioritise problems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2926080"/>
            <a:ext cx="548640" cy="548640"/>
          </a:xfrm>
          <a:prstGeom prst="ellipse">
            <a:avLst/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945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566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Build MVPs &amp; capture insights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0" y="2926080"/>
            <a:ext cx="548640" cy="548640"/>
          </a:xfrm>
          <a:prstGeom prst="ellipse">
            <a:avLst/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566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Evaluate &amp; hand off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2926080"/>
            <a:ext cx="548640" cy="548640"/>
          </a:xfrm>
          <a:prstGeom prst="ellipse">
            <a:avLst/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566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Develop playbook &amp; SOPs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548640" cy="548640"/>
          </a:xfrm>
          <a:prstGeom prst="ellipse">
            <a:avLst/>
          </a:prstGeom>
          <a:solidFill>
            <a:srgbClr val="6E67FA"/>
          </a:solidFill>
          <a:ln w="12700">
            <a:solidFill>
              <a:srgbClr val="6E67F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566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Integrate into operations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2"/>
              </a:rPr>
              <a:t>[2]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3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097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Cross-functional representation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Include rotating experts from R&amp;D, manufacturing, regulatory, quality, marketing and finance to ensure holistic solutions.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Small agile squads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Limit MVP squads to ≤7 people to maximise agility and reduce communication overhead.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286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Stage-gate process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Use clear milestones and hand-off gates when moving projects into operationalization.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880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Integrated digital QMS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Adopt an electronic QMS to manage documentation, training, deviations and CAPA digitally and ensure traceability.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7432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4747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Measure both innovation &amp; quality metrics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Track idea velocity, MVP cycle time, deviation closure and training completion to drive continuous improvement.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1"/>
              </a:rPr>
              <a:t>[3]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2"/>
              </a:rPr>
              <a:t>[4]</a:t>
            </a:r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algn="l" indent="0" marL="0">
              <a:buNone/>
            </a:pPr>
            <a:r>
              <a:rPr lang="en-US" sz="800" u="sng" dirty="0">
                <a:solidFill>
                  <a:srgbClr val="6666FF"/>
                </a:solidFill>
                <a:hlinkClick r:id="rId3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2026-01-29T16:38:17Z</dcterms:created>
  <dcterms:modified xsi:type="dcterms:W3CDTF">2026-01-29T16:38:17Z</dcterms:modified>
</cp:coreProperties>
</file>